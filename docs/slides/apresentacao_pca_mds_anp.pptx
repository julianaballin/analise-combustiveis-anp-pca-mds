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8288000" cy="10287000"/>
  <p:notesSz cx="6858000" cy="9144000"/>
  <p:embeddedFontLst>
    <p:embeddedFont>
      <p:font typeface="Montserrat" charset="1" panose="00000500000000000000"/>
      <p:regular r:id="rId22"/>
    </p:embeddedFont>
    <p:embeddedFont>
      <p:font typeface="Garet Bold" charset="1" panose="00000000000000000000"/>
      <p:regular r:id="rId23"/>
    </p:embeddedFont>
    <p:embeddedFont>
      <p:font typeface="Montserrat Bold" charset="1" panose="000008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11" Target="../media/image10.png" Type="http://schemas.openxmlformats.org/officeDocument/2006/relationships/image"/><Relationship Id="rId12" Target="../media/image11.svg" Type="http://schemas.openxmlformats.org/officeDocument/2006/relationships/image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14.jpeg" Type="http://schemas.openxmlformats.org/officeDocument/2006/relationships/image"/><Relationship Id="rId7" Target="../media/image15.jpeg" Type="http://schemas.openxmlformats.org/officeDocument/2006/relationships/image"/><Relationship Id="rId8" Target="../media/image16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1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4.png" Type="http://schemas.openxmlformats.org/officeDocument/2006/relationships/image"/><Relationship Id="rId7" Target="../media/image5.svg" Type="http://schemas.openxmlformats.org/officeDocument/2006/relationships/image"/><Relationship Id="rId8" Target="../media/image18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png" Type="http://schemas.openxmlformats.org/officeDocument/2006/relationships/image"/><Relationship Id="rId11" Target="../media/image22.svg" Type="http://schemas.openxmlformats.org/officeDocument/2006/relationships/image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19.pn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3.png" Type="http://schemas.openxmlformats.org/officeDocument/2006/relationships/image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6.png" Type="http://schemas.openxmlformats.org/officeDocument/2006/relationships/image"/><Relationship Id="rId7" Target="../media/image7.sv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24.png" Type="http://schemas.openxmlformats.org/officeDocument/2006/relationships/image"/><Relationship Id="rId7" Target="../media/image25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4.png" Type="http://schemas.openxmlformats.org/officeDocument/2006/relationships/image"/><Relationship Id="rId7" Target="../media/image5.svg" Type="http://schemas.openxmlformats.org/officeDocument/2006/relationships/image"/><Relationship Id="rId8" Target="../media/image2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4.png" Type="http://schemas.openxmlformats.org/officeDocument/2006/relationships/image"/><Relationship Id="rId7" Target="../media/image5.svg" Type="http://schemas.openxmlformats.org/officeDocument/2006/relationships/image"/><Relationship Id="rId8" Target="../media/image2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28.png" Type="http://schemas.openxmlformats.org/officeDocument/2006/relationships/image"/><Relationship Id="rId7" Target="../media/image29.svg" Type="http://schemas.openxmlformats.org/officeDocument/2006/relationships/image"/><Relationship Id="rId8" Target="../media/image3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31.png" Type="http://schemas.openxmlformats.org/officeDocument/2006/relationships/image"/><Relationship Id="rId9" Target="../media/image32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33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34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35.png" Type="http://schemas.openxmlformats.org/officeDocument/2006/relationships/image"/><Relationship Id="rId9" Target="../embeddings/oleObject1.bin" Type="http://schemas.openxmlformats.org/officeDocument/2006/relationships/oleObjec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36.png" Type="http://schemas.openxmlformats.org/officeDocument/2006/relationships/image"/><Relationship Id="rId9" Target="../media/image37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6.png" Type="http://schemas.openxmlformats.org/officeDocument/2006/relationships/image"/><Relationship Id="rId11" Target="../media/image47.svg" Type="http://schemas.openxmlformats.org/officeDocument/2006/relationships/image"/><Relationship Id="rId12" Target="../media/image12.png" Type="http://schemas.openxmlformats.org/officeDocument/2006/relationships/image"/><Relationship Id="rId13" Target="../media/image13.svg" Type="http://schemas.openxmlformats.org/officeDocument/2006/relationships/image"/><Relationship Id="rId2" Target="../media/image38.png" Type="http://schemas.openxmlformats.org/officeDocument/2006/relationships/image"/><Relationship Id="rId3" Target="../media/image39.svg" Type="http://schemas.openxmlformats.org/officeDocument/2006/relationships/image"/><Relationship Id="rId4" Target="../media/image40.png" Type="http://schemas.openxmlformats.org/officeDocument/2006/relationships/image"/><Relationship Id="rId5" Target="../media/image41.svg" Type="http://schemas.openxmlformats.org/officeDocument/2006/relationships/image"/><Relationship Id="rId6" Target="../media/image42.png" Type="http://schemas.openxmlformats.org/officeDocument/2006/relationships/image"/><Relationship Id="rId7" Target="../media/image43.svg" Type="http://schemas.openxmlformats.org/officeDocument/2006/relationships/image"/><Relationship Id="rId8" Target="../media/image44.png" Type="http://schemas.openxmlformats.org/officeDocument/2006/relationships/image"/><Relationship Id="rId9" Target="../media/image45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9775665" y="2245328"/>
            <a:ext cx="7136272" cy="7136272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CB80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2471" lIns="52471" bIns="52471" rIns="52471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434946" y="2904610"/>
            <a:ext cx="5817709" cy="5817709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-20230" t="0" r="-29863" b="0"/>
              </a:stretch>
            </a:blipFill>
            <a:ln w="9525" cap="sq">
              <a:solidFill>
                <a:srgbClr val="FCB808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339281" y="7340106"/>
            <a:ext cx="4627107" cy="753124"/>
            <a:chOff x="0" y="0"/>
            <a:chExt cx="2496875" cy="4064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496875" cy="406400"/>
            </a:xfrm>
            <a:custGeom>
              <a:avLst/>
              <a:gdLst/>
              <a:ahLst/>
              <a:cxnLst/>
              <a:rect r="r" b="b" t="t" l="l"/>
              <a:pathLst>
                <a:path h="406400" w="2496875">
                  <a:moveTo>
                    <a:pt x="2293675" y="0"/>
                  </a:moveTo>
                  <a:cubicBezTo>
                    <a:pt x="2405899" y="0"/>
                    <a:pt x="2496875" y="90976"/>
                    <a:pt x="2496875" y="203200"/>
                  </a:cubicBezTo>
                  <a:cubicBezTo>
                    <a:pt x="2496875" y="315424"/>
                    <a:pt x="2405899" y="406400"/>
                    <a:pt x="2293675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D1F47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496875" cy="444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FAFAF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Disciplina: Ciência de Dados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-5400000">
            <a:off x="9722060" y="2058824"/>
            <a:ext cx="2414494" cy="2414494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CB808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2471" lIns="52471" bIns="52471" rIns="52471"/>
            <a:lstStyle/>
            <a:p>
              <a:pPr algn="ctr" marL="0" indent="0" lvl="0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5347124" y="1544941"/>
            <a:ext cx="1136770" cy="227354"/>
          </a:xfrm>
          <a:custGeom>
            <a:avLst/>
            <a:gdLst/>
            <a:ahLst/>
            <a:cxnLst/>
            <a:rect r="r" b="b" t="t" l="l"/>
            <a:pathLst>
              <a:path h="227354" w="1136770">
                <a:moveTo>
                  <a:pt x="0" y="0"/>
                </a:moveTo>
                <a:lnTo>
                  <a:pt x="1136771" y="0"/>
                </a:lnTo>
                <a:lnTo>
                  <a:pt x="1136771" y="227354"/>
                </a:lnTo>
                <a:lnTo>
                  <a:pt x="0" y="2273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483717" y="9035945"/>
            <a:ext cx="1170928" cy="234186"/>
          </a:xfrm>
          <a:custGeom>
            <a:avLst/>
            <a:gdLst/>
            <a:ahLst/>
            <a:cxnLst/>
            <a:rect r="r" b="b" t="t" l="l"/>
            <a:pathLst>
              <a:path h="234186" w="1170928">
                <a:moveTo>
                  <a:pt x="0" y="0"/>
                </a:moveTo>
                <a:lnTo>
                  <a:pt x="1170928" y="0"/>
                </a:lnTo>
                <a:lnTo>
                  <a:pt x="1170928" y="234186"/>
                </a:lnTo>
                <a:lnTo>
                  <a:pt x="0" y="2341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211435" y="704623"/>
            <a:ext cx="2439119" cy="801860"/>
          </a:xfrm>
          <a:custGeom>
            <a:avLst/>
            <a:gdLst/>
            <a:ahLst/>
            <a:cxnLst/>
            <a:rect r="r" b="b" t="t" l="l"/>
            <a:pathLst>
              <a:path h="801860" w="2439119">
                <a:moveTo>
                  <a:pt x="0" y="0"/>
                </a:moveTo>
                <a:lnTo>
                  <a:pt x="2439119" y="0"/>
                </a:lnTo>
                <a:lnTo>
                  <a:pt x="2439119" y="801861"/>
                </a:lnTo>
                <a:lnTo>
                  <a:pt x="0" y="80186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0228499" y="2466949"/>
            <a:ext cx="1376991" cy="1540265"/>
          </a:xfrm>
          <a:custGeom>
            <a:avLst/>
            <a:gdLst/>
            <a:ahLst/>
            <a:cxnLst/>
            <a:rect r="r" b="b" t="t" l="l"/>
            <a:pathLst>
              <a:path h="1540265" w="1376991">
                <a:moveTo>
                  <a:pt x="0" y="0"/>
                </a:moveTo>
                <a:lnTo>
                  <a:pt x="1376991" y="0"/>
                </a:lnTo>
                <a:lnTo>
                  <a:pt x="1376991" y="1540264"/>
                </a:lnTo>
                <a:lnTo>
                  <a:pt x="0" y="154026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191681" y="2933185"/>
            <a:ext cx="8872046" cy="258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71"/>
              </a:lnSpc>
            </a:pPr>
            <a:r>
              <a:rPr lang="en-US" b="true" sz="5888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Análise Exploratória com PCA e MDS em Dados da ANP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91681" y="5902274"/>
            <a:ext cx="5931669" cy="14378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4"/>
              </a:lnSpc>
            </a:pPr>
            <a:r>
              <a:rPr lang="en-US" sz="206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Preços, volumes e participação do etanol por UF: 2021 a 2025</a:t>
            </a:r>
          </a:p>
          <a:p>
            <a:pPr algn="l">
              <a:lnSpc>
                <a:spcPts val="2884"/>
              </a:lnSpc>
            </a:pPr>
          </a:p>
          <a:p>
            <a:pPr algn="l" marL="0" indent="0" lvl="0">
              <a:lnSpc>
                <a:spcPts val="2884"/>
              </a:lnSpc>
              <a:spcBef>
                <a:spcPct val="0"/>
              </a:spcBef>
            </a:pP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6592636" y="-1740444"/>
            <a:ext cx="4290205" cy="4290205"/>
          </a:xfrm>
          <a:custGeom>
            <a:avLst/>
            <a:gdLst/>
            <a:ahLst/>
            <a:cxnLst/>
            <a:rect r="r" b="b" t="t" l="l"/>
            <a:pathLst>
              <a:path h="4290205" w="4290205">
                <a:moveTo>
                  <a:pt x="0" y="0"/>
                </a:moveTo>
                <a:lnTo>
                  <a:pt x="4290205" y="0"/>
                </a:lnTo>
                <a:lnTo>
                  <a:pt x="4290205" y="4290204"/>
                </a:lnTo>
                <a:lnTo>
                  <a:pt x="0" y="429020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-1549679" y="6640240"/>
            <a:ext cx="2741360" cy="2741360"/>
          </a:xfrm>
          <a:custGeom>
            <a:avLst/>
            <a:gdLst/>
            <a:ahLst/>
            <a:cxnLst/>
            <a:rect r="r" b="b" t="t" l="l"/>
            <a:pathLst>
              <a:path h="2741360" w="2741360">
                <a:moveTo>
                  <a:pt x="0" y="0"/>
                </a:moveTo>
                <a:lnTo>
                  <a:pt x="2741360" y="0"/>
                </a:lnTo>
                <a:lnTo>
                  <a:pt x="2741360" y="2741360"/>
                </a:lnTo>
                <a:lnTo>
                  <a:pt x="0" y="274136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383435" y="-463282"/>
            <a:ext cx="4512421" cy="6322131"/>
          </a:xfrm>
          <a:custGeom>
            <a:avLst/>
            <a:gdLst/>
            <a:ahLst/>
            <a:cxnLst/>
            <a:rect r="r" b="b" t="t" l="l"/>
            <a:pathLst>
              <a:path h="6322131" w="4512421">
                <a:moveTo>
                  <a:pt x="0" y="6322131"/>
                </a:moveTo>
                <a:lnTo>
                  <a:pt x="4512421" y="6322131"/>
                </a:lnTo>
                <a:lnTo>
                  <a:pt x="4512421" y="0"/>
                </a:lnTo>
                <a:lnTo>
                  <a:pt x="0" y="0"/>
                </a:lnTo>
                <a:lnTo>
                  <a:pt x="0" y="632213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4159014" y="4428151"/>
            <a:ext cx="4512421" cy="6322131"/>
          </a:xfrm>
          <a:custGeom>
            <a:avLst/>
            <a:gdLst/>
            <a:ahLst/>
            <a:cxnLst/>
            <a:rect r="r" b="b" t="t" l="l"/>
            <a:pathLst>
              <a:path h="6322131" w="4512421">
                <a:moveTo>
                  <a:pt x="4512421" y="0"/>
                </a:moveTo>
                <a:lnTo>
                  <a:pt x="0" y="0"/>
                </a:lnTo>
                <a:lnTo>
                  <a:pt x="0" y="6322131"/>
                </a:lnTo>
                <a:lnTo>
                  <a:pt x="4512421" y="6322131"/>
                </a:lnTo>
                <a:lnTo>
                  <a:pt x="451242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319753" y="2064329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44901" y="7486144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8109679" y="3731219"/>
            <a:ext cx="2121787" cy="2121787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 l="-125101" t="-196236" r="-121826" b="-166334"/>
              </a:stretch>
            </a:blipFill>
            <a:ln w="57150" cap="sq">
              <a:solidFill>
                <a:srgbClr val="0D1F4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3654928" y="3716397"/>
            <a:ext cx="2121787" cy="212178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0" t="-16666" r="0" b="-16666"/>
              </a:stretch>
            </a:blipFill>
            <a:ln w="57150" cap="sq">
              <a:solidFill>
                <a:srgbClr val="FCB808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2656450" y="3731219"/>
            <a:ext cx="2121787" cy="2121787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0" t="-7637" r="0" b="-39954"/>
              </a:stretch>
            </a:blipFill>
            <a:ln w="57150" cap="sq">
              <a:solidFill>
                <a:srgbClr val="FCB808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5577597" y="1066800"/>
            <a:ext cx="7132805" cy="926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95"/>
              </a:lnSpc>
            </a:pPr>
            <a:r>
              <a:rPr lang="en-US" b="true" sz="6344">
                <a:solidFill>
                  <a:srgbClr val="0D1F47"/>
                </a:solidFill>
                <a:latin typeface="Garet Bold"/>
                <a:ea typeface="Garet Bold"/>
                <a:cs typeface="Garet Bold"/>
                <a:sym typeface="Garet Bold"/>
              </a:rPr>
              <a:t>Equipe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359087" y="5964238"/>
            <a:ext cx="3651421" cy="46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59"/>
              </a:lnSpc>
            </a:pPr>
            <a:r>
              <a:rPr lang="en-US" sz="3236" b="true">
                <a:solidFill>
                  <a:srgbClr val="0D1F47"/>
                </a:solidFill>
                <a:latin typeface="Garet Bold"/>
                <a:ea typeface="Garet Bold"/>
                <a:cs typeface="Garet Bold"/>
                <a:sym typeface="Garet Bold"/>
              </a:rPr>
              <a:t>Fernando Luiz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968247" y="5950264"/>
            <a:ext cx="3495148" cy="46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59"/>
              </a:lnSpc>
            </a:pPr>
            <a:r>
              <a:rPr lang="en-US" b="true" sz="3236">
                <a:solidFill>
                  <a:srgbClr val="FCB808"/>
                </a:solidFill>
                <a:latin typeface="Garet Bold"/>
                <a:ea typeface="Garet Bold"/>
                <a:cs typeface="Garet Bold"/>
                <a:sym typeface="Garet Bold"/>
              </a:rPr>
              <a:t>Ana Beatriz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192448" y="6527691"/>
            <a:ext cx="3022086" cy="709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43"/>
              </a:lnSpc>
            </a:pPr>
            <a:r>
              <a:rPr lang="en-US" sz="2584">
                <a:solidFill>
                  <a:srgbClr val="353535"/>
                </a:solidFill>
                <a:latin typeface="Montserrat"/>
                <a:ea typeface="Montserrat"/>
                <a:cs typeface="Montserrat"/>
                <a:sym typeface="Montserrat"/>
              </a:rPr>
              <a:t>Sistemas de Informação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673755" y="6548469"/>
            <a:ext cx="3022086" cy="709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43"/>
              </a:lnSpc>
            </a:pPr>
            <a:r>
              <a:rPr lang="en-US" sz="2584">
                <a:solidFill>
                  <a:srgbClr val="353535"/>
                </a:solidFill>
                <a:latin typeface="Montserrat"/>
                <a:ea typeface="Montserrat"/>
                <a:cs typeface="Montserrat"/>
                <a:sym typeface="Montserrat"/>
              </a:rPr>
              <a:t>Sistemas de Informação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905858" y="5964238"/>
            <a:ext cx="3651421" cy="46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59"/>
              </a:lnSpc>
            </a:pPr>
            <a:r>
              <a:rPr lang="en-US" b="true" sz="3236">
                <a:solidFill>
                  <a:srgbClr val="FCB808"/>
                </a:solidFill>
                <a:latin typeface="Garet Bold"/>
                <a:ea typeface="Garet Bold"/>
                <a:cs typeface="Garet Bold"/>
                <a:sym typeface="Garet Bold"/>
              </a:rPr>
              <a:t>Juliana Ballin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220526" y="6548469"/>
            <a:ext cx="3022086" cy="709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43"/>
              </a:lnSpc>
            </a:pPr>
            <a:r>
              <a:rPr lang="en-US" sz="2584">
                <a:solidFill>
                  <a:srgbClr val="353535"/>
                </a:solidFill>
                <a:latin typeface="Montserrat"/>
                <a:ea typeface="Montserrat"/>
                <a:cs typeface="Montserrat"/>
                <a:sym typeface="Montserrat"/>
              </a:rPr>
              <a:t>Sistemas de Informação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543610" y="-367879"/>
            <a:ext cx="4254503" cy="5960775"/>
          </a:xfrm>
          <a:custGeom>
            <a:avLst/>
            <a:gdLst/>
            <a:ahLst/>
            <a:cxnLst/>
            <a:rect r="r" b="b" t="t" l="l"/>
            <a:pathLst>
              <a:path h="5960775" w="4254503">
                <a:moveTo>
                  <a:pt x="0" y="5960775"/>
                </a:moveTo>
                <a:lnTo>
                  <a:pt x="4254503" y="5960775"/>
                </a:lnTo>
                <a:lnTo>
                  <a:pt x="4254503" y="0"/>
                </a:lnTo>
                <a:lnTo>
                  <a:pt x="0" y="0"/>
                </a:lnTo>
                <a:lnTo>
                  <a:pt x="0" y="596077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4577107" y="-367879"/>
            <a:ext cx="4254503" cy="5960775"/>
          </a:xfrm>
          <a:custGeom>
            <a:avLst/>
            <a:gdLst/>
            <a:ahLst/>
            <a:cxnLst/>
            <a:rect r="r" b="b" t="t" l="l"/>
            <a:pathLst>
              <a:path h="5960775" w="4254503">
                <a:moveTo>
                  <a:pt x="4254503" y="5960775"/>
                </a:moveTo>
                <a:lnTo>
                  <a:pt x="0" y="5960775"/>
                </a:lnTo>
                <a:lnTo>
                  <a:pt x="0" y="0"/>
                </a:lnTo>
                <a:lnTo>
                  <a:pt x="4254503" y="0"/>
                </a:lnTo>
                <a:lnTo>
                  <a:pt x="4254503" y="596077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8229600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431602" y="6172200"/>
            <a:ext cx="3621024" cy="4114800"/>
          </a:xfrm>
          <a:custGeom>
            <a:avLst/>
            <a:gdLst/>
            <a:ahLst/>
            <a:cxnLst/>
            <a:rect r="r" b="b" t="t" l="l"/>
            <a:pathLst>
              <a:path h="4114800" w="3621024">
                <a:moveTo>
                  <a:pt x="0" y="0"/>
                </a:moveTo>
                <a:lnTo>
                  <a:pt x="3621024" y="0"/>
                </a:lnTo>
                <a:lnTo>
                  <a:pt x="362102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175584" y="872351"/>
            <a:ext cx="12066662" cy="92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90"/>
              </a:lnSpc>
            </a:pPr>
            <a:r>
              <a:rPr lang="en-US" b="true" sz="6339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Problema investigado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158220" y="2995353"/>
            <a:ext cx="11050631" cy="1352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50"/>
              </a:lnSpc>
              <a:spcBef>
                <a:spcPct val="0"/>
              </a:spcBef>
            </a:pPr>
            <a:r>
              <a:rPr lang="en-US" b="true" sz="2607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Pergunta central:</a:t>
            </a:r>
          </a:p>
          <a:p>
            <a:pPr algn="ctr">
              <a:lnSpc>
                <a:spcPts val="3650"/>
              </a:lnSpc>
              <a:spcBef>
                <a:spcPct val="0"/>
              </a:spcBef>
            </a:pPr>
            <a:r>
              <a:rPr lang="en-US" sz="2607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Como preço da gasolina C, volume vendido e participação do etanol se relacionam entre as UFs brasileiras?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158220" y="5545271"/>
            <a:ext cx="11050631" cy="1810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50"/>
              </a:lnSpc>
            </a:pPr>
            <a:r>
              <a:rPr lang="en-US" sz="2607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Motivação:</a:t>
            </a:r>
          </a:p>
          <a:p>
            <a:pPr algn="ctr">
              <a:lnSpc>
                <a:spcPts val="3650"/>
              </a:lnSpc>
              <a:spcBef>
                <a:spcPct val="0"/>
              </a:spcBef>
            </a:pPr>
            <a:r>
              <a:rPr lang="en-US" sz="2607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Uma rede de postos ou distribuidora precisa entender diferenças regionais para apoiar decisões de estoque, mix de produtos, campanhas e metas.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174626" y="3832866"/>
            <a:ext cx="1109662" cy="1109662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CB80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497"/>
                </a:lnSpc>
              </a:pPr>
              <a:r>
                <a:rPr lang="en-US" b="true" sz="2498">
                  <a:solidFill>
                    <a:srgbClr val="FAFAFA"/>
                  </a:solidFill>
                  <a:latin typeface="Garet Bold"/>
                  <a:ea typeface="Garet Bold"/>
                  <a:cs typeface="Garet Bold"/>
                  <a:sym typeface="Garet Bold"/>
                </a:rPr>
                <a:t>1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4496022" y="3842643"/>
            <a:ext cx="5028543" cy="438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653"/>
              </a:lnSpc>
              <a:spcBef>
                <a:spcPct val="0"/>
              </a:spcBef>
            </a:pPr>
            <a:r>
              <a:rPr lang="en-US" b="true" sz="261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Preços mensais por estado</a:t>
            </a:r>
          </a:p>
        </p:txBody>
      </p:sp>
      <p:sp>
        <p:nvSpPr>
          <p:cNvPr name="Freeform 6" id="6"/>
          <p:cNvSpPr/>
          <p:nvPr/>
        </p:nvSpPr>
        <p:spPr>
          <a:xfrm flipH="false" flipV="true" rot="0">
            <a:off x="-361182" y="-295178"/>
            <a:ext cx="4512421" cy="6322131"/>
          </a:xfrm>
          <a:custGeom>
            <a:avLst/>
            <a:gdLst/>
            <a:ahLst/>
            <a:cxnLst/>
            <a:rect r="r" b="b" t="t" l="l"/>
            <a:pathLst>
              <a:path h="6322131" w="4512421">
                <a:moveTo>
                  <a:pt x="0" y="6322131"/>
                </a:moveTo>
                <a:lnTo>
                  <a:pt x="4512421" y="6322131"/>
                </a:lnTo>
                <a:lnTo>
                  <a:pt x="4512421" y="0"/>
                </a:lnTo>
                <a:lnTo>
                  <a:pt x="0" y="0"/>
                </a:lnTo>
                <a:lnTo>
                  <a:pt x="0" y="632213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4628647" y="4281174"/>
            <a:ext cx="4512421" cy="6322131"/>
          </a:xfrm>
          <a:custGeom>
            <a:avLst/>
            <a:gdLst/>
            <a:ahLst/>
            <a:cxnLst/>
            <a:rect r="r" b="b" t="t" l="l"/>
            <a:pathLst>
              <a:path h="6322131" w="4512421">
                <a:moveTo>
                  <a:pt x="4512421" y="0"/>
                </a:moveTo>
                <a:lnTo>
                  <a:pt x="0" y="0"/>
                </a:lnTo>
                <a:lnTo>
                  <a:pt x="0" y="6322131"/>
                </a:lnTo>
                <a:lnTo>
                  <a:pt x="4512421" y="6322131"/>
                </a:lnTo>
                <a:lnTo>
                  <a:pt x="451242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65747" y="1419802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28700" y="8424695"/>
            <a:ext cx="1136770" cy="227354"/>
          </a:xfrm>
          <a:custGeom>
            <a:avLst/>
            <a:gdLst/>
            <a:ahLst/>
            <a:cxnLst/>
            <a:rect r="r" b="b" t="t" l="l"/>
            <a:pathLst>
              <a:path h="227354" w="1136770">
                <a:moveTo>
                  <a:pt x="0" y="0"/>
                </a:moveTo>
                <a:lnTo>
                  <a:pt x="1136770" y="0"/>
                </a:lnTo>
                <a:lnTo>
                  <a:pt x="1136770" y="227354"/>
                </a:lnTo>
                <a:lnTo>
                  <a:pt x="0" y="22735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069972" y="3272924"/>
            <a:ext cx="5117350" cy="4546569"/>
          </a:xfrm>
          <a:custGeom>
            <a:avLst/>
            <a:gdLst/>
            <a:ahLst/>
            <a:cxnLst/>
            <a:rect r="r" b="b" t="t" l="l"/>
            <a:pathLst>
              <a:path h="4546569" w="5117350">
                <a:moveTo>
                  <a:pt x="0" y="0"/>
                </a:moveTo>
                <a:lnTo>
                  <a:pt x="5117350" y="0"/>
                </a:lnTo>
                <a:lnTo>
                  <a:pt x="5117350" y="4546569"/>
                </a:lnTo>
                <a:lnTo>
                  <a:pt x="0" y="45465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895029" y="975810"/>
            <a:ext cx="9711278" cy="92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90"/>
              </a:lnSpc>
            </a:pPr>
            <a:r>
              <a:rPr lang="en-US" b="true" sz="6339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Dataset utilizado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174626" y="2622810"/>
            <a:ext cx="7152084" cy="438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53"/>
              </a:lnSpc>
              <a:spcBef>
                <a:spcPct val="0"/>
              </a:spcBef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Foram usadas duas bases públicas da ANP: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496022" y="4438514"/>
            <a:ext cx="6000543" cy="763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094"/>
              </a:lnSpc>
              <a:spcBef>
                <a:spcPct val="0"/>
              </a:spcBef>
            </a:pPr>
            <a:r>
              <a:rPr lang="en-US" sz="22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Preço médio de revenda da gasolina C e do etanol hidratado.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3174626" y="5826180"/>
            <a:ext cx="1109662" cy="1109662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CB808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497"/>
                </a:lnSpc>
              </a:pPr>
              <a:r>
                <a:rPr lang="en-US" b="true" sz="2498">
                  <a:solidFill>
                    <a:srgbClr val="FAFAFA"/>
                  </a:solidFill>
                  <a:latin typeface="Garet Bold"/>
                  <a:ea typeface="Garet Bold"/>
                  <a:cs typeface="Garet Bold"/>
                  <a:sym typeface="Garet Bold"/>
                </a:rPr>
                <a:t>2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4496022" y="5835957"/>
            <a:ext cx="5028543" cy="438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653"/>
              </a:lnSpc>
              <a:spcBef>
                <a:spcPct val="0"/>
              </a:spcBef>
            </a:pPr>
            <a:r>
              <a:rPr lang="en-US" b="true" sz="261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Vendas mensais por UF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496022" y="6431828"/>
            <a:ext cx="6000543" cy="763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094"/>
              </a:lnSpc>
              <a:spcBef>
                <a:spcPct val="0"/>
              </a:spcBef>
            </a:pPr>
            <a:r>
              <a:rPr lang="en-US" sz="22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Volume vendido de gasolina C e etanol hidratado em m³.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174626" y="7951771"/>
            <a:ext cx="7321940" cy="1352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53"/>
              </a:lnSpc>
            </a:pPr>
            <a:r>
              <a:rPr lang="en-US" sz="261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Recorte final: </a:t>
            </a: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2021–2025, 27 UFs e 1619 registros UF-mês.</a:t>
            </a:r>
          </a:p>
          <a:p>
            <a:pPr algn="just" marL="0" indent="0" lvl="0">
              <a:lnSpc>
                <a:spcPts val="3653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64843" y="5336354"/>
            <a:ext cx="4254503" cy="5960775"/>
          </a:xfrm>
          <a:custGeom>
            <a:avLst/>
            <a:gdLst/>
            <a:ahLst/>
            <a:cxnLst/>
            <a:rect r="r" b="b" t="t" l="l"/>
            <a:pathLst>
              <a:path h="5960775" w="4254503">
                <a:moveTo>
                  <a:pt x="0" y="0"/>
                </a:moveTo>
                <a:lnTo>
                  <a:pt x="4254503" y="0"/>
                </a:lnTo>
                <a:lnTo>
                  <a:pt x="4254503" y="5960774"/>
                </a:lnTo>
                <a:lnTo>
                  <a:pt x="0" y="59607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04805" y="1451776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145102" y="-1935129"/>
            <a:ext cx="4290205" cy="4290205"/>
          </a:xfrm>
          <a:custGeom>
            <a:avLst/>
            <a:gdLst/>
            <a:ahLst/>
            <a:cxnLst/>
            <a:rect r="r" b="b" t="t" l="l"/>
            <a:pathLst>
              <a:path h="4290205" w="4290205">
                <a:moveTo>
                  <a:pt x="0" y="0"/>
                </a:moveTo>
                <a:lnTo>
                  <a:pt x="4290204" y="0"/>
                </a:lnTo>
                <a:lnTo>
                  <a:pt x="4290204" y="4290205"/>
                </a:lnTo>
                <a:lnTo>
                  <a:pt x="0" y="42902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2199790" y="4065066"/>
            <a:ext cx="4188154" cy="5231898"/>
            <a:chOff x="0" y="0"/>
            <a:chExt cx="1056826" cy="132020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56826" cy="1320201"/>
            </a:xfrm>
            <a:custGeom>
              <a:avLst/>
              <a:gdLst/>
              <a:ahLst/>
              <a:cxnLst/>
              <a:rect r="r" b="b" t="t" l="l"/>
              <a:pathLst>
                <a:path h="1320201" w="1056826">
                  <a:moveTo>
                    <a:pt x="184853" y="0"/>
                  </a:moveTo>
                  <a:lnTo>
                    <a:pt x="871973" y="0"/>
                  </a:lnTo>
                  <a:cubicBezTo>
                    <a:pt x="920999" y="0"/>
                    <a:pt x="968017" y="19476"/>
                    <a:pt x="1002684" y="54142"/>
                  </a:cubicBezTo>
                  <a:cubicBezTo>
                    <a:pt x="1037350" y="88809"/>
                    <a:pt x="1056826" y="135827"/>
                    <a:pt x="1056826" y="184853"/>
                  </a:cubicBezTo>
                  <a:lnTo>
                    <a:pt x="1056826" y="1135348"/>
                  </a:lnTo>
                  <a:cubicBezTo>
                    <a:pt x="1056826" y="1184374"/>
                    <a:pt x="1037350" y="1231392"/>
                    <a:pt x="1002684" y="1266059"/>
                  </a:cubicBezTo>
                  <a:cubicBezTo>
                    <a:pt x="968017" y="1300726"/>
                    <a:pt x="920999" y="1320201"/>
                    <a:pt x="871973" y="1320201"/>
                  </a:cubicBezTo>
                  <a:lnTo>
                    <a:pt x="184853" y="1320201"/>
                  </a:lnTo>
                  <a:cubicBezTo>
                    <a:pt x="135827" y="1320201"/>
                    <a:pt x="88809" y="1300726"/>
                    <a:pt x="54142" y="1266059"/>
                  </a:cubicBezTo>
                  <a:cubicBezTo>
                    <a:pt x="19476" y="1231392"/>
                    <a:pt x="0" y="1184374"/>
                    <a:pt x="0" y="1135348"/>
                  </a:cubicBezTo>
                  <a:lnTo>
                    <a:pt x="0" y="184853"/>
                  </a:lnTo>
                  <a:cubicBezTo>
                    <a:pt x="0" y="135827"/>
                    <a:pt x="19476" y="88809"/>
                    <a:pt x="54142" y="54142"/>
                  </a:cubicBezTo>
                  <a:cubicBezTo>
                    <a:pt x="88809" y="19476"/>
                    <a:pt x="135827" y="0"/>
                    <a:pt x="184853" y="0"/>
                  </a:cubicBezTo>
                  <a:close/>
                </a:path>
              </a:pathLst>
            </a:custGeom>
            <a:solidFill>
              <a:srgbClr val="FCB808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056826" cy="13583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7146115" y="4065066"/>
            <a:ext cx="4188154" cy="5231898"/>
            <a:chOff x="0" y="0"/>
            <a:chExt cx="1056826" cy="132020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56826" cy="1320201"/>
            </a:xfrm>
            <a:custGeom>
              <a:avLst/>
              <a:gdLst/>
              <a:ahLst/>
              <a:cxnLst/>
              <a:rect r="r" b="b" t="t" l="l"/>
              <a:pathLst>
                <a:path h="1320201" w="1056826">
                  <a:moveTo>
                    <a:pt x="184853" y="0"/>
                  </a:moveTo>
                  <a:lnTo>
                    <a:pt x="871973" y="0"/>
                  </a:lnTo>
                  <a:cubicBezTo>
                    <a:pt x="920999" y="0"/>
                    <a:pt x="968017" y="19476"/>
                    <a:pt x="1002684" y="54142"/>
                  </a:cubicBezTo>
                  <a:cubicBezTo>
                    <a:pt x="1037350" y="88809"/>
                    <a:pt x="1056826" y="135827"/>
                    <a:pt x="1056826" y="184853"/>
                  </a:cubicBezTo>
                  <a:lnTo>
                    <a:pt x="1056826" y="1135348"/>
                  </a:lnTo>
                  <a:cubicBezTo>
                    <a:pt x="1056826" y="1184374"/>
                    <a:pt x="1037350" y="1231392"/>
                    <a:pt x="1002684" y="1266059"/>
                  </a:cubicBezTo>
                  <a:cubicBezTo>
                    <a:pt x="968017" y="1300726"/>
                    <a:pt x="920999" y="1320201"/>
                    <a:pt x="871973" y="1320201"/>
                  </a:cubicBezTo>
                  <a:lnTo>
                    <a:pt x="184853" y="1320201"/>
                  </a:lnTo>
                  <a:cubicBezTo>
                    <a:pt x="135827" y="1320201"/>
                    <a:pt x="88809" y="1300726"/>
                    <a:pt x="54142" y="1266059"/>
                  </a:cubicBezTo>
                  <a:cubicBezTo>
                    <a:pt x="19476" y="1231392"/>
                    <a:pt x="0" y="1184374"/>
                    <a:pt x="0" y="1135348"/>
                  </a:cubicBezTo>
                  <a:lnTo>
                    <a:pt x="0" y="184853"/>
                  </a:lnTo>
                  <a:cubicBezTo>
                    <a:pt x="0" y="135827"/>
                    <a:pt x="19476" y="88809"/>
                    <a:pt x="54142" y="54142"/>
                  </a:cubicBezTo>
                  <a:cubicBezTo>
                    <a:pt x="88809" y="19476"/>
                    <a:pt x="135827" y="0"/>
                    <a:pt x="184853" y="0"/>
                  </a:cubicBezTo>
                  <a:close/>
                </a:path>
              </a:pathLst>
            </a:custGeom>
            <a:solidFill>
              <a:srgbClr val="0D1F47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056826" cy="13583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2092440" y="4065066"/>
            <a:ext cx="4188154" cy="5231898"/>
            <a:chOff x="0" y="0"/>
            <a:chExt cx="1056826" cy="132020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56826" cy="1320201"/>
            </a:xfrm>
            <a:custGeom>
              <a:avLst/>
              <a:gdLst/>
              <a:ahLst/>
              <a:cxnLst/>
              <a:rect r="r" b="b" t="t" l="l"/>
              <a:pathLst>
                <a:path h="1320201" w="1056826">
                  <a:moveTo>
                    <a:pt x="184853" y="0"/>
                  </a:moveTo>
                  <a:lnTo>
                    <a:pt x="871973" y="0"/>
                  </a:lnTo>
                  <a:cubicBezTo>
                    <a:pt x="920999" y="0"/>
                    <a:pt x="968017" y="19476"/>
                    <a:pt x="1002684" y="54142"/>
                  </a:cubicBezTo>
                  <a:cubicBezTo>
                    <a:pt x="1037350" y="88809"/>
                    <a:pt x="1056826" y="135827"/>
                    <a:pt x="1056826" y="184853"/>
                  </a:cubicBezTo>
                  <a:lnTo>
                    <a:pt x="1056826" y="1135348"/>
                  </a:lnTo>
                  <a:cubicBezTo>
                    <a:pt x="1056826" y="1184374"/>
                    <a:pt x="1037350" y="1231392"/>
                    <a:pt x="1002684" y="1266059"/>
                  </a:cubicBezTo>
                  <a:cubicBezTo>
                    <a:pt x="968017" y="1300726"/>
                    <a:pt x="920999" y="1320201"/>
                    <a:pt x="871973" y="1320201"/>
                  </a:cubicBezTo>
                  <a:lnTo>
                    <a:pt x="184853" y="1320201"/>
                  </a:lnTo>
                  <a:cubicBezTo>
                    <a:pt x="135827" y="1320201"/>
                    <a:pt x="88809" y="1300726"/>
                    <a:pt x="54142" y="1266059"/>
                  </a:cubicBezTo>
                  <a:cubicBezTo>
                    <a:pt x="19476" y="1231392"/>
                    <a:pt x="0" y="1184374"/>
                    <a:pt x="0" y="1135348"/>
                  </a:cubicBezTo>
                  <a:lnTo>
                    <a:pt x="0" y="184853"/>
                  </a:lnTo>
                  <a:cubicBezTo>
                    <a:pt x="0" y="135827"/>
                    <a:pt x="19476" y="88809"/>
                    <a:pt x="54142" y="54142"/>
                  </a:cubicBezTo>
                  <a:cubicBezTo>
                    <a:pt x="88809" y="19476"/>
                    <a:pt x="135827" y="0"/>
                    <a:pt x="184853" y="0"/>
                  </a:cubicBezTo>
                  <a:close/>
                </a:path>
              </a:pathLst>
            </a:custGeom>
            <a:solidFill>
              <a:srgbClr val="FCB808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056826" cy="13583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6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3737135" y="4364366"/>
            <a:ext cx="1113463" cy="1230346"/>
          </a:xfrm>
          <a:custGeom>
            <a:avLst/>
            <a:gdLst/>
            <a:ahLst/>
            <a:cxnLst/>
            <a:rect r="r" b="b" t="t" l="l"/>
            <a:pathLst>
              <a:path h="1230346" w="1113463">
                <a:moveTo>
                  <a:pt x="0" y="0"/>
                </a:moveTo>
                <a:lnTo>
                  <a:pt x="1113464" y="0"/>
                </a:lnTo>
                <a:lnTo>
                  <a:pt x="1113464" y="1230346"/>
                </a:lnTo>
                <a:lnTo>
                  <a:pt x="0" y="123034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8787483" y="4448502"/>
            <a:ext cx="905418" cy="1062074"/>
          </a:xfrm>
          <a:custGeom>
            <a:avLst/>
            <a:gdLst/>
            <a:ahLst/>
            <a:cxnLst/>
            <a:rect r="r" b="b" t="t" l="l"/>
            <a:pathLst>
              <a:path h="1062074" w="905418">
                <a:moveTo>
                  <a:pt x="0" y="0"/>
                </a:moveTo>
                <a:lnTo>
                  <a:pt x="905418" y="0"/>
                </a:lnTo>
                <a:lnTo>
                  <a:pt x="905418" y="1062074"/>
                </a:lnTo>
                <a:lnTo>
                  <a:pt x="0" y="106207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819521" y="4501243"/>
            <a:ext cx="733991" cy="1093469"/>
          </a:xfrm>
          <a:custGeom>
            <a:avLst/>
            <a:gdLst/>
            <a:ahLst/>
            <a:cxnLst/>
            <a:rect r="r" b="b" t="t" l="l"/>
            <a:pathLst>
              <a:path h="1093469" w="733991">
                <a:moveTo>
                  <a:pt x="0" y="0"/>
                </a:moveTo>
                <a:lnTo>
                  <a:pt x="733991" y="0"/>
                </a:lnTo>
                <a:lnTo>
                  <a:pt x="733991" y="1093469"/>
                </a:lnTo>
                <a:lnTo>
                  <a:pt x="0" y="109346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2676040" y="858279"/>
            <a:ext cx="8400754" cy="92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90"/>
              </a:lnSpc>
            </a:pPr>
            <a:r>
              <a:rPr lang="en-US" b="true" sz="6339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Features analisadas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785040" y="2681637"/>
            <a:ext cx="12568503" cy="438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53"/>
              </a:lnSpc>
              <a:spcBef>
                <a:spcPct val="0"/>
              </a:spcBef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As variáveis foram escolhidas para representar três dimensões do problema: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794466" y="5870937"/>
            <a:ext cx="998802" cy="438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53"/>
              </a:lnSpc>
              <a:spcBef>
                <a:spcPct val="0"/>
              </a:spcBef>
            </a:pPr>
            <a:r>
              <a:rPr lang="en-US" b="true" sz="261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Preço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379370" y="6590848"/>
            <a:ext cx="3671793" cy="27156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77141" indent="-238571" lvl="1">
              <a:lnSpc>
                <a:spcPts val="3094"/>
              </a:lnSpc>
              <a:buFont typeface="Arial"/>
              <a:buChar char="•"/>
            </a:pPr>
            <a:r>
              <a:rPr lang="en-US" sz="22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preço médio da gasolina C;</a:t>
            </a:r>
          </a:p>
          <a:p>
            <a:pPr algn="just" marL="477141" indent="-238571" lvl="1">
              <a:lnSpc>
                <a:spcPts val="3094"/>
              </a:lnSpc>
              <a:buFont typeface="Arial"/>
              <a:buChar char="•"/>
            </a:pPr>
            <a:r>
              <a:rPr lang="en-US" sz="22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preço relativo etanol/gasolina;</a:t>
            </a:r>
          </a:p>
          <a:p>
            <a:pPr algn="just" marL="477141" indent="-238571" lvl="1">
              <a:lnSpc>
                <a:spcPts val="3094"/>
              </a:lnSpc>
              <a:buFont typeface="Arial"/>
              <a:buChar char="•"/>
            </a:pPr>
            <a:r>
              <a:rPr lang="en-US" sz="22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variação mensal do preço da gasolina.</a:t>
            </a:r>
          </a:p>
          <a:p>
            <a:pPr algn="just" marL="0" indent="0" lvl="0">
              <a:lnSpc>
                <a:spcPts val="3094"/>
              </a:lnSpc>
              <a:spcBef>
                <a:spcPct val="0"/>
              </a:spcBef>
            </a:pPr>
          </a:p>
        </p:txBody>
      </p:sp>
      <p:sp>
        <p:nvSpPr>
          <p:cNvPr name="TextBox 21" id="21"/>
          <p:cNvSpPr txBox="true"/>
          <p:nvPr/>
        </p:nvSpPr>
        <p:spPr>
          <a:xfrm rot="0">
            <a:off x="8496961" y="5870937"/>
            <a:ext cx="1332177" cy="438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53"/>
              </a:lnSpc>
              <a:spcBef>
                <a:spcPct val="0"/>
              </a:spcBef>
            </a:pPr>
            <a:r>
              <a:rPr lang="en-US" b="true" sz="261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Volume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308103" y="6680943"/>
            <a:ext cx="3671793" cy="1934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77141" indent="-238571" lvl="1">
              <a:lnSpc>
                <a:spcPts val="3094"/>
              </a:lnSpc>
              <a:buFont typeface="Arial"/>
              <a:buChar char="•"/>
            </a:pPr>
            <a:r>
              <a:rPr lang="en-US" sz="221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volume de gasolina C;</a:t>
            </a:r>
          </a:p>
          <a:p>
            <a:pPr algn="just" marL="477141" indent="-238571" lvl="1">
              <a:lnSpc>
                <a:spcPts val="3094"/>
              </a:lnSpc>
              <a:buFont typeface="Arial"/>
              <a:buChar char="•"/>
            </a:pPr>
            <a:r>
              <a:rPr lang="en-US" sz="221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volume de etanol hidratado;</a:t>
            </a:r>
          </a:p>
          <a:p>
            <a:pPr algn="just" marL="477141" indent="-238571" lvl="1">
              <a:lnSpc>
                <a:spcPts val="3094"/>
              </a:lnSpc>
              <a:spcBef>
                <a:spcPct val="0"/>
              </a:spcBef>
              <a:buFont typeface="Arial"/>
              <a:buChar char="•"/>
            </a:pPr>
            <a:r>
              <a:rPr lang="en-US" sz="221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variação mensal do volume da gasolina.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097055" y="5870937"/>
            <a:ext cx="2178579" cy="438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53"/>
              </a:lnSpc>
              <a:spcBef>
                <a:spcPct val="0"/>
              </a:spcBef>
            </a:pPr>
            <a:r>
              <a:rPr lang="en-US" b="true" sz="261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Substituição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350620" y="6680943"/>
            <a:ext cx="3565858" cy="15440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77141" indent="-238571" lvl="1">
              <a:lnSpc>
                <a:spcPts val="3094"/>
              </a:lnSpc>
              <a:buFont typeface="Arial"/>
              <a:buChar char="•"/>
            </a:pPr>
            <a:r>
              <a:rPr lang="en-US" sz="22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participação do etanol;</a:t>
            </a:r>
          </a:p>
          <a:p>
            <a:pPr algn="just" marL="477141" indent="-238571" lvl="1">
              <a:lnSpc>
                <a:spcPts val="3094"/>
              </a:lnSpc>
              <a:buFont typeface="Arial"/>
              <a:buChar char="•"/>
            </a:pPr>
            <a:r>
              <a:rPr lang="en-US" sz="22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razão etanol/gasolina.</a:t>
            </a:r>
          </a:p>
          <a:p>
            <a:pPr algn="just">
              <a:lnSpc>
                <a:spcPts val="3094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770608" y="-277785"/>
            <a:ext cx="4608415" cy="10842570"/>
            <a:chOff x="0" y="0"/>
            <a:chExt cx="1198006" cy="28186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98006" cy="2818641"/>
            </a:xfrm>
            <a:custGeom>
              <a:avLst/>
              <a:gdLst/>
              <a:ahLst/>
              <a:cxnLst/>
              <a:rect r="r" b="b" t="t" l="l"/>
              <a:pathLst>
                <a:path h="2818641" w="1198006">
                  <a:moveTo>
                    <a:pt x="0" y="0"/>
                  </a:moveTo>
                  <a:lnTo>
                    <a:pt x="1198006" y="0"/>
                  </a:lnTo>
                  <a:lnTo>
                    <a:pt x="1198006" y="2818641"/>
                  </a:lnTo>
                  <a:lnTo>
                    <a:pt x="0" y="2818641"/>
                  </a:lnTo>
                  <a:close/>
                </a:path>
              </a:pathLst>
            </a:custGeom>
            <a:solidFill>
              <a:srgbClr val="FCB80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98006" cy="2856741"/>
            </a:xfrm>
            <a:prstGeom prst="rect">
              <a:avLst/>
            </a:prstGeom>
          </p:spPr>
          <p:txBody>
            <a:bodyPr anchor="ctr" rtlCol="false" tIns="52471" lIns="52471" bIns="52471" rIns="52471"/>
            <a:lstStyle/>
            <a:p>
              <a:pPr algn="ctr" marL="0" indent="0" lvl="0">
                <a:lnSpc>
                  <a:spcPts val="266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true" flipV="false" rot="0">
            <a:off x="14330941" y="4283551"/>
            <a:ext cx="4512421" cy="6322131"/>
          </a:xfrm>
          <a:custGeom>
            <a:avLst/>
            <a:gdLst/>
            <a:ahLst/>
            <a:cxnLst/>
            <a:rect r="r" b="b" t="t" l="l"/>
            <a:pathLst>
              <a:path h="6322131" w="4512421">
                <a:moveTo>
                  <a:pt x="4512421" y="0"/>
                </a:moveTo>
                <a:lnTo>
                  <a:pt x="0" y="0"/>
                </a:lnTo>
                <a:lnTo>
                  <a:pt x="0" y="6322131"/>
                </a:lnTo>
                <a:lnTo>
                  <a:pt x="4512421" y="6322131"/>
                </a:lnTo>
                <a:lnTo>
                  <a:pt x="451242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5450381" y="1028700"/>
            <a:ext cx="1136770" cy="227354"/>
          </a:xfrm>
          <a:custGeom>
            <a:avLst/>
            <a:gdLst/>
            <a:ahLst/>
            <a:cxnLst/>
            <a:rect r="r" b="b" t="t" l="l"/>
            <a:pathLst>
              <a:path h="227354" w="1136770">
                <a:moveTo>
                  <a:pt x="0" y="0"/>
                </a:moveTo>
                <a:lnTo>
                  <a:pt x="1136770" y="0"/>
                </a:lnTo>
                <a:lnTo>
                  <a:pt x="1136770" y="227354"/>
                </a:lnTo>
                <a:lnTo>
                  <a:pt x="0" y="2273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247632" y="9030946"/>
            <a:ext cx="1136770" cy="227354"/>
          </a:xfrm>
          <a:custGeom>
            <a:avLst/>
            <a:gdLst/>
            <a:ahLst/>
            <a:cxnLst/>
            <a:rect r="r" b="b" t="t" l="l"/>
            <a:pathLst>
              <a:path h="227354" w="1136770">
                <a:moveTo>
                  <a:pt x="0" y="0"/>
                </a:moveTo>
                <a:lnTo>
                  <a:pt x="1136770" y="0"/>
                </a:lnTo>
                <a:lnTo>
                  <a:pt x="1136770" y="227354"/>
                </a:lnTo>
                <a:lnTo>
                  <a:pt x="0" y="2273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456007" y="8479448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752626" y="8812035"/>
            <a:ext cx="4290205" cy="4290205"/>
          </a:xfrm>
          <a:custGeom>
            <a:avLst/>
            <a:gdLst/>
            <a:ahLst/>
            <a:cxnLst/>
            <a:rect r="r" b="b" t="t" l="l"/>
            <a:pathLst>
              <a:path h="4290205" w="4290205">
                <a:moveTo>
                  <a:pt x="0" y="0"/>
                </a:moveTo>
                <a:lnTo>
                  <a:pt x="4290205" y="0"/>
                </a:lnTo>
                <a:lnTo>
                  <a:pt x="4290205" y="4290205"/>
                </a:lnTo>
                <a:lnTo>
                  <a:pt x="0" y="429020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855695" y="2745510"/>
            <a:ext cx="3731456" cy="4981312"/>
          </a:xfrm>
          <a:custGeom>
            <a:avLst/>
            <a:gdLst/>
            <a:ahLst/>
            <a:cxnLst/>
            <a:rect r="r" b="b" t="t" l="l"/>
            <a:pathLst>
              <a:path h="4981312" w="3731456">
                <a:moveTo>
                  <a:pt x="0" y="0"/>
                </a:moveTo>
                <a:lnTo>
                  <a:pt x="3731456" y="0"/>
                </a:lnTo>
                <a:lnTo>
                  <a:pt x="3731456" y="4981312"/>
                </a:lnTo>
                <a:lnTo>
                  <a:pt x="0" y="498131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3566357" y="1066800"/>
            <a:ext cx="10140300" cy="92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290"/>
              </a:lnSpc>
            </a:pPr>
            <a:r>
              <a:rPr lang="en-US" b="true" sz="6339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Preparação dos dados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566357" y="2757685"/>
            <a:ext cx="8816400" cy="5467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53"/>
              </a:lnSpc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As bases foram tratadas e cruzadas por UF e mês.</a:t>
            </a:r>
          </a:p>
          <a:p>
            <a:pPr algn="just">
              <a:lnSpc>
                <a:spcPts val="3653"/>
              </a:lnSpc>
            </a:pPr>
          </a:p>
          <a:p>
            <a:pPr algn="just">
              <a:lnSpc>
                <a:spcPts val="3653"/>
              </a:lnSpc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Etapas principais:</a:t>
            </a: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normalização dos nomes dos estados;</a:t>
            </a: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filtragem de gasolina C e etanol hidratado;</a:t>
            </a: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agregação mensal por UF;</a:t>
            </a: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criação de variáveis derivadas;</a:t>
            </a: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padronização com StandardScaler.</a:t>
            </a:r>
          </a:p>
          <a:p>
            <a:pPr algn="just">
              <a:lnSpc>
                <a:spcPts val="3653"/>
              </a:lnSpc>
            </a:pPr>
          </a:p>
          <a:p>
            <a:pPr algn="just">
              <a:lnSpc>
                <a:spcPts val="3653"/>
              </a:lnSpc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 padronização foi necessária porque preço, volume e participação têm escalas muito diferentes.</a:t>
            </a:r>
          </a:p>
          <a:p>
            <a:pPr algn="just" marL="0" indent="0" lvl="0">
              <a:lnSpc>
                <a:spcPts val="3653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543610" y="-367879"/>
            <a:ext cx="4254503" cy="5960775"/>
          </a:xfrm>
          <a:custGeom>
            <a:avLst/>
            <a:gdLst/>
            <a:ahLst/>
            <a:cxnLst/>
            <a:rect r="r" b="b" t="t" l="l"/>
            <a:pathLst>
              <a:path h="5960775" w="4254503">
                <a:moveTo>
                  <a:pt x="0" y="5960775"/>
                </a:moveTo>
                <a:lnTo>
                  <a:pt x="4254503" y="5960775"/>
                </a:lnTo>
                <a:lnTo>
                  <a:pt x="4254503" y="0"/>
                </a:lnTo>
                <a:lnTo>
                  <a:pt x="0" y="0"/>
                </a:lnTo>
                <a:lnTo>
                  <a:pt x="0" y="596077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4577107" y="-367879"/>
            <a:ext cx="4254503" cy="5960775"/>
          </a:xfrm>
          <a:custGeom>
            <a:avLst/>
            <a:gdLst/>
            <a:ahLst/>
            <a:cxnLst/>
            <a:rect r="r" b="b" t="t" l="l"/>
            <a:pathLst>
              <a:path h="5960775" w="4254503">
                <a:moveTo>
                  <a:pt x="4254503" y="5960775"/>
                </a:moveTo>
                <a:lnTo>
                  <a:pt x="0" y="5960775"/>
                </a:lnTo>
                <a:lnTo>
                  <a:pt x="0" y="0"/>
                </a:lnTo>
                <a:lnTo>
                  <a:pt x="4254503" y="0"/>
                </a:lnTo>
                <a:lnTo>
                  <a:pt x="4254503" y="596077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8229600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917419" y="3094388"/>
            <a:ext cx="9531881" cy="5467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53"/>
              </a:lnSpc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 PCA transforma variáveis originais em novos eixos chamados </a:t>
            </a:r>
            <a:r>
              <a:rPr lang="en-US" sz="261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componentes principais</a:t>
            </a: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  <a:p>
            <a:pPr algn="just">
              <a:lnSpc>
                <a:spcPts val="3653"/>
              </a:lnSpc>
            </a:pPr>
          </a:p>
          <a:p>
            <a:pPr algn="just">
              <a:lnSpc>
                <a:spcPts val="3653"/>
              </a:lnSpc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Esses componentes concentram a maior parte possível da variação dos dados.</a:t>
            </a:r>
          </a:p>
          <a:p>
            <a:pPr algn="just">
              <a:lnSpc>
                <a:spcPts val="3653"/>
              </a:lnSpc>
            </a:pPr>
          </a:p>
          <a:p>
            <a:pPr algn="just">
              <a:lnSpc>
                <a:spcPts val="3653"/>
              </a:lnSpc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No trabalho, o PCA foi usado para:</a:t>
            </a: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projetar 8 features em 2 dimensões;</a:t>
            </a: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observar tendências e agrupamentos;</a:t>
            </a: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identificar outliers;</a:t>
            </a: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entender quais variáveis mais influenciam a projeção.</a:t>
            </a:r>
          </a:p>
          <a:p>
            <a:pPr algn="just">
              <a:lnSpc>
                <a:spcPts val="3653"/>
              </a:lnSpc>
              <a:spcBef>
                <a:spcPct val="0"/>
              </a:spcBef>
            </a:pP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869815" y="3142013"/>
            <a:ext cx="4099369" cy="4114800"/>
          </a:xfrm>
          <a:custGeom>
            <a:avLst/>
            <a:gdLst/>
            <a:ahLst/>
            <a:cxnLst/>
            <a:rect r="r" b="b" t="t" l="l"/>
            <a:pathLst>
              <a:path h="4114800" w="4099369">
                <a:moveTo>
                  <a:pt x="0" y="0"/>
                </a:moveTo>
                <a:lnTo>
                  <a:pt x="4099370" y="0"/>
                </a:lnTo>
                <a:lnTo>
                  <a:pt x="409937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175584" y="872351"/>
            <a:ext cx="12066662" cy="92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90"/>
              </a:lnSpc>
            </a:pPr>
            <a:r>
              <a:rPr lang="en-US" b="true" sz="6339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PCA: ideia do método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361182" y="-295178"/>
            <a:ext cx="4512421" cy="6322131"/>
          </a:xfrm>
          <a:custGeom>
            <a:avLst/>
            <a:gdLst/>
            <a:ahLst/>
            <a:cxnLst/>
            <a:rect r="r" b="b" t="t" l="l"/>
            <a:pathLst>
              <a:path h="6322131" w="4512421">
                <a:moveTo>
                  <a:pt x="0" y="6322131"/>
                </a:moveTo>
                <a:lnTo>
                  <a:pt x="4512421" y="6322131"/>
                </a:lnTo>
                <a:lnTo>
                  <a:pt x="4512421" y="0"/>
                </a:lnTo>
                <a:lnTo>
                  <a:pt x="0" y="0"/>
                </a:lnTo>
                <a:lnTo>
                  <a:pt x="0" y="632213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4628647" y="4281174"/>
            <a:ext cx="4512421" cy="6322131"/>
          </a:xfrm>
          <a:custGeom>
            <a:avLst/>
            <a:gdLst/>
            <a:ahLst/>
            <a:cxnLst/>
            <a:rect r="r" b="b" t="t" l="l"/>
            <a:pathLst>
              <a:path h="6322131" w="4512421">
                <a:moveTo>
                  <a:pt x="4512421" y="0"/>
                </a:moveTo>
                <a:lnTo>
                  <a:pt x="0" y="0"/>
                </a:lnTo>
                <a:lnTo>
                  <a:pt x="0" y="6322131"/>
                </a:lnTo>
                <a:lnTo>
                  <a:pt x="4512421" y="6322131"/>
                </a:lnTo>
                <a:lnTo>
                  <a:pt x="451242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392247" y="1419802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8700" y="8424695"/>
            <a:ext cx="1136770" cy="227354"/>
          </a:xfrm>
          <a:custGeom>
            <a:avLst/>
            <a:gdLst/>
            <a:ahLst/>
            <a:cxnLst/>
            <a:rect r="r" b="b" t="t" l="l"/>
            <a:pathLst>
              <a:path h="227354" w="1136770">
                <a:moveTo>
                  <a:pt x="0" y="0"/>
                </a:moveTo>
                <a:lnTo>
                  <a:pt x="1136770" y="0"/>
                </a:lnTo>
                <a:lnTo>
                  <a:pt x="1136770" y="227354"/>
                </a:lnTo>
                <a:lnTo>
                  <a:pt x="0" y="22735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144000" y="2865888"/>
            <a:ext cx="8590179" cy="6029041"/>
          </a:xfrm>
          <a:custGeom>
            <a:avLst/>
            <a:gdLst/>
            <a:ahLst/>
            <a:cxnLst/>
            <a:rect r="r" b="b" t="t" l="l"/>
            <a:pathLst>
              <a:path h="6029041" w="8590179">
                <a:moveTo>
                  <a:pt x="0" y="0"/>
                </a:moveTo>
                <a:lnTo>
                  <a:pt x="8590179" y="0"/>
                </a:lnTo>
                <a:lnTo>
                  <a:pt x="8590179" y="6029041"/>
                </a:lnTo>
                <a:lnTo>
                  <a:pt x="0" y="602904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512" t="0" r="-1512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534469" y="975810"/>
            <a:ext cx="11331278" cy="92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90"/>
              </a:lnSpc>
            </a:pPr>
            <a:r>
              <a:rPr lang="en-US" b="true" sz="6339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PCA: variância explicada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95029" y="3406859"/>
            <a:ext cx="6640858" cy="5010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53"/>
              </a:lnSpc>
              <a:spcBef>
                <a:spcPct val="0"/>
              </a:spcBef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Os dois primeiros componentes explicaram </a:t>
            </a:r>
            <a:r>
              <a:rPr lang="en-US" b="true" sz="261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63,8% </a:t>
            </a: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da variância total:</a:t>
            </a:r>
          </a:p>
          <a:p>
            <a:pPr algn="just">
              <a:lnSpc>
                <a:spcPts val="3653"/>
              </a:lnSpc>
              <a:spcBef>
                <a:spcPct val="0"/>
              </a:spcBef>
            </a:pP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b="true" sz="261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PC1: 40,5%</a:t>
            </a: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b="true" sz="261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PC2: 16,9%</a:t>
            </a:r>
          </a:p>
          <a:p>
            <a:pPr algn="just">
              <a:lnSpc>
                <a:spcPts val="3653"/>
              </a:lnSpc>
              <a:spcBef>
                <a:spcPct val="0"/>
              </a:spcBef>
            </a:pPr>
          </a:p>
          <a:p>
            <a:pPr algn="just">
              <a:lnSpc>
                <a:spcPts val="3653"/>
              </a:lnSpc>
              <a:spcBef>
                <a:spcPct val="0"/>
              </a:spcBef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Esse resultado permite uma visualização inicial dos padrões, mas indica que p</a:t>
            </a: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art</a:t>
            </a: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</a:t>
            </a: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elev</a:t>
            </a: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nte</a:t>
            </a: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d</a:t>
            </a: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informação ainda fica fora do gráfico 2D.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361182" y="-295178"/>
            <a:ext cx="4512421" cy="6322131"/>
          </a:xfrm>
          <a:custGeom>
            <a:avLst/>
            <a:gdLst/>
            <a:ahLst/>
            <a:cxnLst/>
            <a:rect r="r" b="b" t="t" l="l"/>
            <a:pathLst>
              <a:path h="6322131" w="4512421">
                <a:moveTo>
                  <a:pt x="0" y="6322131"/>
                </a:moveTo>
                <a:lnTo>
                  <a:pt x="4512421" y="6322131"/>
                </a:lnTo>
                <a:lnTo>
                  <a:pt x="4512421" y="0"/>
                </a:lnTo>
                <a:lnTo>
                  <a:pt x="0" y="0"/>
                </a:lnTo>
                <a:lnTo>
                  <a:pt x="0" y="632213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4628647" y="4281174"/>
            <a:ext cx="4512421" cy="6322131"/>
          </a:xfrm>
          <a:custGeom>
            <a:avLst/>
            <a:gdLst/>
            <a:ahLst/>
            <a:cxnLst/>
            <a:rect r="r" b="b" t="t" l="l"/>
            <a:pathLst>
              <a:path h="6322131" w="4512421">
                <a:moveTo>
                  <a:pt x="4512421" y="0"/>
                </a:moveTo>
                <a:lnTo>
                  <a:pt x="0" y="0"/>
                </a:lnTo>
                <a:lnTo>
                  <a:pt x="0" y="6322131"/>
                </a:lnTo>
                <a:lnTo>
                  <a:pt x="4512421" y="6322131"/>
                </a:lnTo>
                <a:lnTo>
                  <a:pt x="451242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999747" y="1526355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8700" y="6197195"/>
            <a:ext cx="1136770" cy="227354"/>
          </a:xfrm>
          <a:custGeom>
            <a:avLst/>
            <a:gdLst/>
            <a:ahLst/>
            <a:cxnLst/>
            <a:rect r="r" b="b" t="t" l="l"/>
            <a:pathLst>
              <a:path h="227354" w="1136770">
                <a:moveTo>
                  <a:pt x="0" y="0"/>
                </a:moveTo>
                <a:lnTo>
                  <a:pt x="1136770" y="0"/>
                </a:lnTo>
                <a:lnTo>
                  <a:pt x="1136770" y="227354"/>
                </a:lnTo>
                <a:lnTo>
                  <a:pt x="0" y="22735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417498" y="2290237"/>
            <a:ext cx="9491105" cy="5706527"/>
          </a:xfrm>
          <a:custGeom>
            <a:avLst/>
            <a:gdLst/>
            <a:ahLst/>
            <a:cxnLst/>
            <a:rect r="r" b="b" t="t" l="l"/>
            <a:pathLst>
              <a:path h="5706527" w="9491105">
                <a:moveTo>
                  <a:pt x="0" y="0"/>
                </a:moveTo>
                <a:lnTo>
                  <a:pt x="9491104" y="0"/>
                </a:lnTo>
                <a:lnTo>
                  <a:pt x="9491104" y="5706526"/>
                </a:lnTo>
                <a:lnTo>
                  <a:pt x="0" y="570652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502177" y="620401"/>
            <a:ext cx="13700528" cy="92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290"/>
              </a:lnSpc>
            </a:pPr>
            <a:r>
              <a:rPr lang="en-US" b="true" sz="6339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PCA: gráfico 2D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97085" y="8558022"/>
            <a:ext cx="15287772" cy="1352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Registros próximos possuem comportamento semelhante nas features analisadas.</a:t>
            </a:r>
          </a:p>
          <a:p>
            <a:pPr algn="l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Há separação parcial entre perfis regionais.</a:t>
            </a:r>
          </a:p>
          <a:p>
            <a:pPr algn="l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Pontos afastados indicam possíveis outliers.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361182" y="-295178"/>
            <a:ext cx="4512421" cy="6322131"/>
          </a:xfrm>
          <a:custGeom>
            <a:avLst/>
            <a:gdLst/>
            <a:ahLst/>
            <a:cxnLst/>
            <a:rect r="r" b="b" t="t" l="l"/>
            <a:pathLst>
              <a:path h="6322131" w="4512421">
                <a:moveTo>
                  <a:pt x="0" y="6322131"/>
                </a:moveTo>
                <a:lnTo>
                  <a:pt x="4512421" y="6322131"/>
                </a:lnTo>
                <a:lnTo>
                  <a:pt x="4512421" y="0"/>
                </a:lnTo>
                <a:lnTo>
                  <a:pt x="0" y="0"/>
                </a:lnTo>
                <a:lnTo>
                  <a:pt x="0" y="632213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4628647" y="4281174"/>
            <a:ext cx="4512421" cy="6322131"/>
          </a:xfrm>
          <a:custGeom>
            <a:avLst/>
            <a:gdLst/>
            <a:ahLst/>
            <a:cxnLst/>
            <a:rect r="r" b="b" t="t" l="l"/>
            <a:pathLst>
              <a:path h="6322131" w="4512421">
                <a:moveTo>
                  <a:pt x="4512421" y="0"/>
                </a:moveTo>
                <a:lnTo>
                  <a:pt x="0" y="0"/>
                </a:lnTo>
                <a:lnTo>
                  <a:pt x="0" y="6322131"/>
                </a:lnTo>
                <a:lnTo>
                  <a:pt x="4512421" y="6322131"/>
                </a:lnTo>
                <a:lnTo>
                  <a:pt x="451242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627497" y="2636122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400000">
            <a:off x="7192946" y="5770297"/>
            <a:ext cx="5032034" cy="276762"/>
          </a:xfrm>
          <a:custGeom>
            <a:avLst/>
            <a:gdLst/>
            <a:ahLst/>
            <a:cxnLst/>
            <a:rect r="r" b="b" t="t" l="l"/>
            <a:pathLst>
              <a:path h="276762" w="5032034">
                <a:moveTo>
                  <a:pt x="0" y="0"/>
                </a:moveTo>
                <a:lnTo>
                  <a:pt x="5032034" y="0"/>
                </a:lnTo>
                <a:lnTo>
                  <a:pt x="5032034" y="276762"/>
                </a:lnTo>
                <a:lnTo>
                  <a:pt x="0" y="2767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774196" y="2482710"/>
            <a:ext cx="10739607" cy="5683340"/>
          </a:xfrm>
          <a:custGeom>
            <a:avLst/>
            <a:gdLst/>
            <a:ahLst/>
            <a:cxnLst/>
            <a:rect r="r" b="b" t="t" l="l"/>
            <a:pathLst>
              <a:path h="5683340" w="10739607">
                <a:moveTo>
                  <a:pt x="0" y="0"/>
                </a:moveTo>
                <a:lnTo>
                  <a:pt x="10739608" y="0"/>
                </a:lnTo>
                <a:lnTo>
                  <a:pt x="10739608" y="5683339"/>
                </a:lnTo>
                <a:lnTo>
                  <a:pt x="0" y="56833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310124" y="1066800"/>
            <a:ext cx="14520916" cy="1850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90"/>
              </a:lnSpc>
            </a:pPr>
            <a:r>
              <a:rPr lang="en-US" sz="6339" b="true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PCA: contribuição das variáveis</a:t>
            </a:r>
          </a:p>
          <a:p>
            <a:pPr algn="l" marL="0" indent="0" lvl="0">
              <a:lnSpc>
                <a:spcPts val="7290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597085" y="8490747"/>
            <a:ext cx="14706336" cy="89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53"/>
              </a:lnSpc>
              <a:spcBef>
                <a:spcPct val="0"/>
              </a:spcBef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PC1 é mais associado à participação do etanol, razão etanol/gasolina e volumes vendidos.</a:t>
            </a:r>
          </a:p>
          <a:p>
            <a:pPr algn="ctr">
              <a:lnSpc>
                <a:spcPts val="3653"/>
              </a:lnSpc>
              <a:spcBef>
                <a:spcPct val="0"/>
              </a:spcBef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PC2 reflete principalmente variações mensais de preço e volume.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64843" y="5336354"/>
            <a:ext cx="4254503" cy="5960775"/>
          </a:xfrm>
          <a:custGeom>
            <a:avLst/>
            <a:gdLst/>
            <a:ahLst/>
            <a:cxnLst/>
            <a:rect r="r" b="b" t="t" l="l"/>
            <a:pathLst>
              <a:path h="5960775" w="4254503">
                <a:moveTo>
                  <a:pt x="0" y="0"/>
                </a:moveTo>
                <a:lnTo>
                  <a:pt x="4254503" y="0"/>
                </a:lnTo>
                <a:lnTo>
                  <a:pt x="4254503" y="5960774"/>
                </a:lnTo>
                <a:lnTo>
                  <a:pt x="0" y="59607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04805" y="1451776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145102" y="-1935129"/>
            <a:ext cx="4290205" cy="4290205"/>
          </a:xfrm>
          <a:custGeom>
            <a:avLst/>
            <a:gdLst/>
            <a:ahLst/>
            <a:cxnLst/>
            <a:rect r="r" b="b" t="t" l="l"/>
            <a:pathLst>
              <a:path h="4290205" w="4290205">
                <a:moveTo>
                  <a:pt x="0" y="0"/>
                </a:moveTo>
                <a:lnTo>
                  <a:pt x="4290204" y="0"/>
                </a:lnTo>
                <a:lnTo>
                  <a:pt x="4290204" y="4290205"/>
                </a:lnTo>
                <a:lnTo>
                  <a:pt x="0" y="42902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145102" y="3061367"/>
            <a:ext cx="9402469" cy="5010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53"/>
              </a:lnSpc>
              <a:spcBef>
                <a:spcPct val="0"/>
              </a:spcBef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 MDS posiciona os registros em duas dimensões tentando preservar as distâncias do espaço original.</a:t>
            </a:r>
          </a:p>
          <a:p>
            <a:pPr algn="just">
              <a:lnSpc>
                <a:spcPts val="3653"/>
              </a:lnSpc>
              <a:spcBef>
                <a:spcPct val="0"/>
              </a:spcBef>
            </a:pPr>
          </a:p>
          <a:p>
            <a:pPr algn="just">
              <a:lnSpc>
                <a:spcPts val="3653"/>
              </a:lnSpc>
              <a:spcBef>
                <a:spcPct val="0"/>
              </a:spcBef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No gráfico:</a:t>
            </a: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pontos próximos indicam registros semelhantes;</a:t>
            </a: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pontos afastados indicam perfis diferentes;</a:t>
            </a:r>
          </a:p>
          <a:p>
            <a:pPr algn="just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 interpretação é baseada em proximidade, não em variância explicada.</a:t>
            </a:r>
          </a:p>
          <a:p>
            <a:pPr algn="just">
              <a:lnSpc>
                <a:spcPts val="3653"/>
              </a:lnSpc>
            </a:pPr>
          </a:p>
          <a:p>
            <a:pPr algn="just">
              <a:lnSpc>
                <a:spcPts val="3653"/>
              </a:lnSpc>
              <a:spcBef>
                <a:spcPct val="0"/>
              </a:spcBef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Diferente do PCA, o MDS não mostra diretamente quais variáveis pesaram mais.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2924558" y="3673350"/>
            <a:ext cx="3960495" cy="4114800"/>
          </a:xfrm>
          <a:custGeom>
            <a:avLst/>
            <a:gdLst/>
            <a:ahLst/>
            <a:cxnLst/>
            <a:rect r="r" b="b" t="t" l="l"/>
            <a:pathLst>
              <a:path h="4114800" w="3960495">
                <a:moveTo>
                  <a:pt x="0" y="0"/>
                </a:moveTo>
                <a:lnTo>
                  <a:pt x="3960495" y="0"/>
                </a:lnTo>
                <a:lnTo>
                  <a:pt x="396049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007790" y="858279"/>
            <a:ext cx="10142254" cy="92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90"/>
              </a:lnSpc>
            </a:pPr>
            <a:r>
              <a:rPr lang="en-US" b="true" sz="6339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MDS: ideia do método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64843" y="5336354"/>
            <a:ext cx="4254503" cy="5960775"/>
          </a:xfrm>
          <a:custGeom>
            <a:avLst/>
            <a:gdLst/>
            <a:ahLst/>
            <a:cxnLst/>
            <a:rect r="r" b="b" t="t" l="l"/>
            <a:pathLst>
              <a:path h="5960775" w="4254503">
                <a:moveTo>
                  <a:pt x="0" y="0"/>
                </a:moveTo>
                <a:lnTo>
                  <a:pt x="4254503" y="0"/>
                </a:lnTo>
                <a:lnTo>
                  <a:pt x="4254503" y="5960774"/>
                </a:lnTo>
                <a:lnTo>
                  <a:pt x="0" y="59607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04805" y="1451776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145102" y="-1935129"/>
            <a:ext cx="4290205" cy="4290205"/>
          </a:xfrm>
          <a:custGeom>
            <a:avLst/>
            <a:gdLst/>
            <a:ahLst/>
            <a:cxnLst/>
            <a:rect r="r" b="b" t="t" l="l"/>
            <a:pathLst>
              <a:path h="4290205" w="4290205">
                <a:moveTo>
                  <a:pt x="0" y="0"/>
                </a:moveTo>
                <a:lnTo>
                  <a:pt x="4290204" y="0"/>
                </a:lnTo>
                <a:lnTo>
                  <a:pt x="4290204" y="4290205"/>
                </a:lnTo>
                <a:lnTo>
                  <a:pt x="0" y="42902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398448" y="4011123"/>
            <a:ext cx="9491105" cy="5706527"/>
          </a:xfrm>
          <a:custGeom>
            <a:avLst/>
            <a:gdLst/>
            <a:ahLst/>
            <a:cxnLst/>
            <a:rect r="r" b="b" t="t" l="l"/>
            <a:pathLst>
              <a:path h="5706527" w="9491105">
                <a:moveTo>
                  <a:pt x="0" y="0"/>
                </a:moveTo>
                <a:lnTo>
                  <a:pt x="9491104" y="0"/>
                </a:lnTo>
                <a:lnTo>
                  <a:pt x="9491104" y="5706526"/>
                </a:lnTo>
                <a:lnTo>
                  <a:pt x="0" y="570652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360989" y="2400096"/>
            <a:ext cx="14170050" cy="1810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53"/>
              </a:lnSpc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No MDS, a interpretação ocorre pelas distâncias entre os pontos. Os registros próximos indicam UFs e meses com perfis semelhantes de preço, volume e participação do etanol: </a:t>
            </a:r>
          </a:p>
          <a:p>
            <a:pPr algn="just">
              <a:lnSpc>
                <a:spcPts val="3653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2145102" y="858279"/>
            <a:ext cx="8076754" cy="92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90"/>
              </a:lnSpc>
            </a:pPr>
            <a:r>
              <a:rPr lang="en-US" b="true" sz="6339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MDS: resultado 2D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64843" y="5336354"/>
            <a:ext cx="4254503" cy="5960775"/>
          </a:xfrm>
          <a:custGeom>
            <a:avLst/>
            <a:gdLst/>
            <a:ahLst/>
            <a:cxnLst/>
            <a:rect r="r" b="b" t="t" l="l"/>
            <a:pathLst>
              <a:path h="5960775" w="4254503">
                <a:moveTo>
                  <a:pt x="0" y="0"/>
                </a:moveTo>
                <a:lnTo>
                  <a:pt x="4254503" y="0"/>
                </a:lnTo>
                <a:lnTo>
                  <a:pt x="4254503" y="5960774"/>
                </a:lnTo>
                <a:lnTo>
                  <a:pt x="0" y="59607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04805" y="1451776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145102" y="-1935129"/>
            <a:ext cx="4290205" cy="4290205"/>
          </a:xfrm>
          <a:custGeom>
            <a:avLst/>
            <a:gdLst/>
            <a:ahLst/>
            <a:cxnLst/>
            <a:rect r="r" b="b" t="t" l="l"/>
            <a:pathLst>
              <a:path h="4290205" w="4290205">
                <a:moveTo>
                  <a:pt x="0" y="0"/>
                </a:moveTo>
                <a:lnTo>
                  <a:pt x="4290204" y="0"/>
                </a:lnTo>
                <a:lnTo>
                  <a:pt x="4290204" y="4290205"/>
                </a:lnTo>
                <a:lnTo>
                  <a:pt x="0" y="42902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429881" y="3542430"/>
            <a:ext cx="9428239" cy="5715870"/>
          </a:xfrm>
          <a:custGeom>
            <a:avLst/>
            <a:gdLst/>
            <a:ahLst/>
            <a:cxnLst/>
            <a:rect r="r" b="b" t="t" l="l"/>
            <a:pathLst>
              <a:path h="5715870" w="9428239">
                <a:moveTo>
                  <a:pt x="0" y="0"/>
                </a:moveTo>
                <a:lnTo>
                  <a:pt x="9428238" y="0"/>
                </a:lnTo>
                <a:lnTo>
                  <a:pt x="9428238" y="5715870"/>
                </a:lnTo>
                <a:lnTo>
                  <a:pt x="0" y="57158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360989" y="2400096"/>
            <a:ext cx="14170050" cy="89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53"/>
              </a:lnSpc>
              <a:spcBef>
                <a:spcPct val="0"/>
              </a:spcBef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São Paulo aparece como principal outlier por combinar alto volume de vendas e alta participação do etanol: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145102" y="858279"/>
            <a:ext cx="12086254" cy="92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90"/>
              </a:lnSpc>
            </a:pPr>
            <a:r>
              <a:rPr lang="en-US" b="true" sz="6339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Outliers e padrões regionais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64843" y="5336354"/>
            <a:ext cx="4254503" cy="5960775"/>
          </a:xfrm>
          <a:custGeom>
            <a:avLst/>
            <a:gdLst/>
            <a:ahLst/>
            <a:cxnLst/>
            <a:rect r="r" b="b" t="t" l="l"/>
            <a:pathLst>
              <a:path h="5960775" w="4254503">
                <a:moveTo>
                  <a:pt x="0" y="0"/>
                </a:moveTo>
                <a:lnTo>
                  <a:pt x="4254503" y="0"/>
                </a:lnTo>
                <a:lnTo>
                  <a:pt x="4254503" y="5960774"/>
                </a:lnTo>
                <a:lnTo>
                  <a:pt x="0" y="59607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04805" y="1451776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145102" y="-1935129"/>
            <a:ext cx="4290205" cy="4290205"/>
          </a:xfrm>
          <a:custGeom>
            <a:avLst/>
            <a:gdLst/>
            <a:ahLst/>
            <a:cxnLst/>
            <a:rect r="r" b="b" t="t" l="l"/>
            <a:pathLst>
              <a:path h="4290205" w="4290205">
                <a:moveTo>
                  <a:pt x="0" y="0"/>
                </a:moveTo>
                <a:lnTo>
                  <a:pt x="4290204" y="0"/>
                </a:lnTo>
                <a:lnTo>
                  <a:pt x="4290204" y="4290205"/>
                </a:lnTo>
                <a:lnTo>
                  <a:pt x="0" y="42902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Object 5" id="5"/>
          <p:cNvGraphicFramePr/>
          <p:nvPr/>
        </p:nvGraphicFramePr>
        <p:xfrm>
          <a:off x="3075324" y="3634867"/>
          <a:ext cx="3771900" cy="3771900"/>
        </p:xfrm>
        <a:graphic>
          <a:graphicData uri="http://schemas.openxmlformats.org/presentationml/2006/ole">
            <p:oleObj imgW="4521200" imgH="4521200" r:id="rId9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6" id="6"/>
          <p:cNvSpPr txBox="true"/>
          <p:nvPr/>
        </p:nvSpPr>
        <p:spPr>
          <a:xfrm rot="0">
            <a:off x="2360989" y="2400096"/>
            <a:ext cx="14170050" cy="438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53"/>
              </a:lnSpc>
              <a:spcBef>
                <a:spcPct val="0"/>
              </a:spcBef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Padrões principais: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145102" y="858279"/>
            <a:ext cx="12086254" cy="92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90"/>
              </a:lnSpc>
            </a:pPr>
            <a:r>
              <a:rPr lang="en-US" b="true" sz="6339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Outliers e padrões regionais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64843" y="5336354"/>
            <a:ext cx="4254503" cy="5960775"/>
          </a:xfrm>
          <a:custGeom>
            <a:avLst/>
            <a:gdLst/>
            <a:ahLst/>
            <a:cxnLst/>
            <a:rect r="r" b="b" t="t" l="l"/>
            <a:pathLst>
              <a:path h="5960775" w="4254503">
                <a:moveTo>
                  <a:pt x="0" y="0"/>
                </a:moveTo>
                <a:lnTo>
                  <a:pt x="4254503" y="0"/>
                </a:lnTo>
                <a:lnTo>
                  <a:pt x="4254503" y="5960774"/>
                </a:lnTo>
                <a:lnTo>
                  <a:pt x="0" y="59607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04805" y="1451776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145102" y="-1935129"/>
            <a:ext cx="4290205" cy="4290205"/>
          </a:xfrm>
          <a:custGeom>
            <a:avLst/>
            <a:gdLst/>
            <a:ahLst/>
            <a:cxnLst/>
            <a:rect r="r" b="b" t="t" l="l"/>
            <a:pathLst>
              <a:path h="4290205" w="4290205">
                <a:moveTo>
                  <a:pt x="0" y="0"/>
                </a:moveTo>
                <a:lnTo>
                  <a:pt x="4290204" y="0"/>
                </a:lnTo>
                <a:lnTo>
                  <a:pt x="4290204" y="4290205"/>
                </a:lnTo>
                <a:lnTo>
                  <a:pt x="0" y="42902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360989" y="2807276"/>
            <a:ext cx="14170050" cy="5010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 PCA foi mais útil para entender quais variáveis estruturam os dados e pode apoiar redução de features.</a:t>
            </a:r>
          </a:p>
          <a:p>
            <a:pPr algn="l">
              <a:lnSpc>
                <a:spcPts val="3653"/>
              </a:lnSpc>
            </a:pPr>
          </a:p>
          <a:p>
            <a:pPr algn="l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 MDS foi mais útil para visualizar similaridades, proximidades e possíveis agrupamentos.</a:t>
            </a:r>
          </a:p>
          <a:p>
            <a:pPr algn="just">
              <a:lnSpc>
                <a:spcPts val="3653"/>
              </a:lnSpc>
            </a:pPr>
          </a:p>
          <a:p>
            <a:pPr algn="just">
              <a:lnSpc>
                <a:spcPts val="3653"/>
              </a:lnSpc>
            </a:pPr>
            <a:r>
              <a:rPr lang="en-US" sz="261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Conclusão:</a:t>
            </a:r>
          </a:p>
          <a:p>
            <a:pPr algn="l" marL="563499" indent="-281750" lvl="1">
              <a:lnSpc>
                <a:spcPts val="3653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Os métodos mostraram que o comportamento do mercado não depende apenas do preço da gasolina. Volume, participação do etanol, preço relativo e variações mensais também ajudam a explicar os padrões regionais observados.</a:t>
            </a:r>
          </a:p>
          <a:p>
            <a:pPr algn="l">
              <a:lnSpc>
                <a:spcPts val="3653"/>
              </a:lnSpc>
            </a:pP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4051112" y="7680386"/>
            <a:ext cx="4052429" cy="3155829"/>
          </a:xfrm>
          <a:custGeom>
            <a:avLst/>
            <a:gdLst/>
            <a:ahLst/>
            <a:cxnLst/>
            <a:rect r="r" b="b" t="t" l="l"/>
            <a:pathLst>
              <a:path h="3155829" w="4052429">
                <a:moveTo>
                  <a:pt x="0" y="0"/>
                </a:moveTo>
                <a:lnTo>
                  <a:pt x="4052429" y="0"/>
                </a:lnTo>
                <a:lnTo>
                  <a:pt x="4052429" y="3155828"/>
                </a:lnTo>
                <a:lnTo>
                  <a:pt x="0" y="31558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360989" y="858279"/>
            <a:ext cx="11156032" cy="92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90"/>
              </a:lnSpc>
            </a:pPr>
            <a:r>
              <a:rPr lang="en-US" b="true" sz="6339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Comparação e conclusão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B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-420251" y="-393076"/>
            <a:ext cx="4512421" cy="6322131"/>
          </a:xfrm>
          <a:custGeom>
            <a:avLst/>
            <a:gdLst/>
            <a:ahLst/>
            <a:cxnLst/>
            <a:rect r="r" b="b" t="t" l="l"/>
            <a:pathLst>
              <a:path h="6322131" w="4512421">
                <a:moveTo>
                  <a:pt x="0" y="6322131"/>
                </a:moveTo>
                <a:lnTo>
                  <a:pt x="4512421" y="6322131"/>
                </a:lnTo>
                <a:lnTo>
                  <a:pt x="4512421" y="0"/>
                </a:lnTo>
                <a:lnTo>
                  <a:pt x="0" y="0"/>
                </a:lnTo>
                <a:lnTo>
                  <a:pt x="0" y="6322131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9144000" y="-793474"/>
            <a:ext cx="10262260" cy="11873948"/>
            <a:chOff x="0" y="0"/>
            <a:chExt cx="3387240" cy="391920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87240" cy="3919206"/>
            </a:xfrm>
            <a:custGeom>
              <a:avLst/>
              <a:gdLst/>
              <a:ahLst/>
              <a:cxnLst/>
              <a:rect r="r" b="b" t="t" l="l"/>
              <a:pathLst>
                <a:path h="3919206" w="3387240">
                  <a:moveTo>
                    <a:pt x="0" y="0"/>
                  </a:moveTo>
                  <a:lnTo>
                    <a:pt x="3387240" y="0"/>
                  </a:lnTo>
                  <a:lnTo>
                    <a:pt x="3387240" y="3919206"/>
                  </a:lnTo>
                  <a:lnTo>
                    <a:pt x="0" y="3919206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387240" cy="39573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6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3453150" y="1907826"/>
            <a:ext cx="10821980" cy="6292838"/>
            <a:chOff x="0" y="0"/>
            <a:chExt cx="698898" cy="406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98898" cy="406400"/>
            </a:xfrm>
            <a:custGeom>
              <a:avLst/>
              <a:gdLst/>
              <a:ahLst/>
              <a:cxnLst/>
              <a:rect r="r" b="b" t="t" l="l"/>
              <a:pathLst>
                <a:path h="406400" w="698898">
                  <a:moveTo>
                    <a:pt x="495698" y="0"/>
                  </a:moveTo>
                  <a:cubicBezTo>
                    <a:pt x="607922" y="0"/>
                    <a:pt x="698898" y="90976"/>
                    <a:pt x="698898" y="203200"/>
                  </a:cubicBezTo>
                  <a:cubicBezTo>
                    <a:pt x="698898" y="315424"/>
                    <a:pt x="607922" y="406400"/>
                    <a:pt x="495698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AFAFA"/>
            </a:solidFill>
            <a:ln w="19050" cap="sq">
              <a:solidFill>
                <a:srgbClr val="FCB808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698898" cy="444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6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4477128" y="4472957"/>
            <a:ext cx="9333744" cy="13530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45"/>
              </a:lnSpc>
            </a:pPr>
            <a:r>
              <a:rPr lang="en-US" b="true" sz="10145">
                <a:solidFill>
                  <a:srgbClr val="0D1F47"/>
                </a:solidFill>
                <a:latin typeface="Garet Bold"/>
                <a:ea typeface="Garet Bold"/>
                <a:cs typeface="Garet Bold"/>
                <a:sym typeface="Garet Bold"/>
              </a:rPr>
              <a:t>Obrigado (a)!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877710" y="8556487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5386944" y="1065338"/>
            <a:ext cx="2023346" cy="665175"/>
          </a:xfrm>
          <a:custGeom>
            <a:avLst/>
            <a:gdLst/>
            <a:ahLst/>
            <a:cxnLst/>
            <a:rect r="r" b="b" t="t" l="l"/>
            <a:pathLst>
              <a:path h="665175" w="2023346">
                <a:moveTo>
                  <a:pt x="0" y="0"/>
                </a:moveTo>
                <a:lnTo>
                  <a:pt x="2023346" y="0"/>
                </a:lnTo>
                <a:lnTo>
                  <a:pt x="2023346" y="665175"/>
                </a:lnTo>
                <a:lnTo>
                  <a:pt x="0" y="66517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438845" y="1028700"/>
            <a:ext cx="1136770" cy="227354"/>
          </a:xfrm>
          <a:custGeom>
            <a:avLst/>
            <a:gdLst/>
            <a:ahLst/>
            <a:cxnLst/>
            <a:rect r="r" b="b" t="t" l="l"/>
            <a:pathLst>
              <a:path h="227354" w="1136770">
                <a:moveTo>
                  <a:pt x="0" y="0"/>
                </a:moveTo>
                <a:lnTo>
                  <a:pt x="1136770" y="0"/>
                </a:lnTo>
                <a:lnTo>
                  <a:pt x="1136770" y="227354"/>
                </a:lnTo>
                <a:lnTo>
                  <a:pt x="0" y="22735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748577" y="8852436"/>
            <a:ext cx="1136770" cy="227354"/>
          </a:xfrm>
          <a:custGeom>
            <a:avLst/>
            <a:gdLst/>
            <a:ahLst/>
            <a:cxnLst/>
            <a:rect r="r" b="b" t="t" l="l"/>
            <a:pathLst>
              <a:path h="227354" w="1136770">
                <a:moveTo>
                  <a:pt x="0" y="0"/>
                </a:moveTo>
                <a:lnTo>
                  <a:pt x="1136770" y="0"/>
                </a:lnTo>
                <a:lnTo>
                  <a:pt x="1136770" y="227354"/>
                </a:lnTo>
                <a:lnTo>
                  <a:pt x="0" y="22735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true" flipV="false" rot="0">
            <a:off x="14159014" y="4428151"/>
            <a:ext cx="4512421" cy="6322131"/>
          </a:xfrm>
          <a:custGeom>
            <a:avLst/>
            <a:gdLst/>
            <a:ahLst/>
            <a:cxnLst/>
            <a:rect r="r" b="b" t="t" l="l"/>
            <a:pathLst>
              <a:path h="6322131" w="4512421">
                <a:moveTo>
                  <a:pt x="4512421" y="0"/>
                </a:moveTo>
                <a:lnTo>
                  <a:pt x="0" y="0"/>
                </a:lnTo>
                <a:lnTo>
                  <a:pt x="0" y="6322131"/>
                </a:lnTo>
                <a:lnTo>
                  <a:pt x="4512421" y="6322131"/>
                </a:lnTo>
                <a:lnTo>
                  <a:pt x="4512421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DAHIW5sYhAM</dc:identifier>
  <dcterms:modified xsi:type="dcterms:W3CDTF">2011-08-01T06:04:30Z</dcterms:modified>
  <cp:revision>1</cp:revision>
  <dc:title>apresentacao_pca_mds_anp</dc:title>
</cp:coreProperties>
</file>