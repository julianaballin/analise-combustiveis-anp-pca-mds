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PCA e MDS em dados da ANP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Gasolina C, etanol hidratado, preços e volumes por UF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 investigado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Entender associações entre preço da gasolina C, volume vendido e participação do etanol.</a:t>
            </a:r>
          </a:p>
          <a:p>
            <a:pPr>
              <a:defRPr sz="2000"/>
            </a:pPr>
            <a:r>
              <a:t>Apoiar decisões de estoque, mix comercial, campanhas e metas regionais.</a:t>
            </a:r>
          </a:p>
          <a:p>
            <a:pPr>
              <a:defRPr sz="2000"/>
            </a:pPr>
            <a:r>
              <a:t>Tratar a análise como exploração visual e estatística, sem inferir causalidade direta.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e preparação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Recorte: 01/2021 a 12/2025, 27 UFs e 1619 registros UF-mês.</a:t>
            </a:r>
          </a:p>
          <a:p>
            <a:pPr>
              <a:defRPr sz="2000"/>
            </a:pPr>
            <a:r>
              <a:t>Fontes: série histórica mensal de preços e vendas mensais de derivados e etanol da ANP.</a:t>
            </a:r>
          </a:p>
          <a:p>
            <a:pPr>
              <a:defRPr sz="2000"/>
            </a:pPr>
            <a:r>
              <a:t>Features padronizadas com StandardScaler para equilibrar escalas diferentes.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PC1 explicou 40.5% e PC2 explicou 16.9%.</a:t>
            </a:r>
          </a:p>
          <a:p>
            <a:pPr>
              <a:defRPr sz="2000"/>
            </a:pPr>
            <a:r>
              <a:t>Variância acumulada dos dois primeiros componentes: 57.5%.</a:t>
            </a:r>
          </a:p>
          <a:p>
            <a:pPr>
              <a:defRPr sz="2000"/>
            </a:pPr>
            <a:r>
              <a:t>Principais influências em PC1: participacao_etanol, razao_etanol_gasolina, volume_etanol_hidratado_m3, preco_relativo_etanol_gasolina.</a:t>
            </a:r>
          </a:p>
          <a:p>
            <a:pPr>
              <a:defRPr sz="2000"/>
            </a:pPr>
            <a:r>
              <a:t>Principais influências em PC2: variacao_preco_gasolina_c, volume_gasolina_c_m3, variacao_volume_gasolina_c, preco_medio_gasolina_c.</a:t>
            </a:r>
          </a:p>
        </p:txBody>
      </p:sp>
      <p:pic>
        <p:nvPicPr>
          <p:cNvPr id="4" name="Picture 3" descr="pca_2d_regi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188720"/>
            <a:ext cx="3291840" cy="19789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Representa proximidades entre registros usando distâncias no espaço padronizado.</a:t>
            </a:r>
          </a:p>
          <a:p>
            <a:pPr>
              <a:defRPr sz="2000"/>
            </a:pPr>
            <a:r>
              <a:t>Stress do MDS: 208340.59.</a:t>
            </a:r>
          </a:p>
          <a:p>
            <a:pPr>
              <a:defRPr sz="2000"/>
            </a:pPr>
            <a:r>
              <a:t>Registros próximos indicam comportamento semelhante de preço, volume e participação do etanol.</a:t>
            </a:r>
          </a:p>
        </p:txBody>
      </p:sp>
      <p:pic>
        <p:nvPicPr>
          <p:cNvPr id="4" name="Picture 3" descr="mds_2d_regi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188720"/>
            <a:ext cx="3291840" cy="19789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Padrões e outliers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Estados com maior participação do etanol aparecem mais afastados dos mercados dependentes de gasolina.</a:t>
            </a:r>
          </a:p>
          <a:p>
            <a:pPr>
              <a:defRPr sz="2000"/>
            </a:pPr>
            <a:r>
              <a:t>Outliers combinam grande volume, participação elevada do etanol ou variações mensais fortes.</a:t>
            </a:r>
          </a:p>
          <a:p>
            <a:pPr>
              <a:defRPr sz="2000"/>
            </a:pPr>
            <a:r>
              <a:t>Os padrões observados fazem sentido para a hipótese de diferenças regionais de substituição.</a:t>
            </a:r>
          </a:p>
        </p:txBody>
      </p:sp>
      <p:pic>
        <p:nvPicPr>
          <p:cNvPr id="4" name="Picture 3" descr="outliers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188720"/>
            <a:ext cx="3291840" cy="19940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Comparação e conclusão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PCA explica a contribuição das variáveis e pode apoiar redução de features.</a:t>
            </a:r>
          </a:p>
          <a:p>
            <a:pPr>
              <a:defRPr sz="2000"/>
            </a:pPr>
            <a:r>
              <a:t>MDS é mais adequado para visualização de similaridade e leitura de vizinhanças.</a:t>
            </a:r>
          </a:p>
          <a:p>
            <a:pPr>
              <a:defRPr sz="2000"/>
            </a:pPr>
            <a:r>
              <a:t>Os métodos ajudaram a mapear grupos, tendências e registros atípicos úteis para decisões regionais.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